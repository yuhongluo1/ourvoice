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3" r:id="rId6"/>
    <p:sldId id="264" r:id="rId7"/>
    <p:sldId id="274" r:id="rId8"/>
    <p:sldId id="283" r:id="rId9"/>
    <p:sldId id="278" r:id="rId10"/>
    <p:sldId id="284" r:id="rId11"/>
    <p:sldId id="282" r:id="rId12"/>
    <p:sldId id="287" r:id="rId13"/>
    <p:sldId id="288" r:id="rId14"/>
    <p:sldId id="270" r:id="rId15"/>
  </p:sldIdLst>
  <p:sldSz cx="18288000" cy="10287000"/>
  <p:notesSz cx="6858000" cy="9144000"/>
  <p:embeddedFontLst>
    <p:embeddedFont>
      <p:font typeface="Anantason Expanded" pitchFamily="2" charset="-34"/>
      <p:regular r:id="rId17"/>
    </p:embeddedFont>
    <p:embeddedFont>
      <p:font typeface="Anantason Expanded Bold" pitchFamily="2" charset="-34"/>
      <p:regular r:id="rId18"/>
      <p:bold r:id="rId19"/>
    </p:embeddedFont>
    <p:embeddedFont>
      <p:font typeface="Anantason Expanded Medium" pitchFamily="2" charset="-34"/>
      <p:regular r:id="rId20"/>
    </p:embeddedFont>
    <p:embeddedFont>
      <p:font typeface="Anantason Expanded Ultra-Bold" pitchFamily="2" charset="-34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38560-3644-C54E-9B70-0E54FC876BE5}" v="1" dt="2025-09-24T04:03:44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63" autoAdjust="0"/>
    <p:restoredTop sz="94589" autoAdjust="0"/>
  </p:normalViewPr>
  <p:slideViewPr>
    <p:cSldViewPr>
      <p:cViewPr varScale="1">
        <p:scale>
          <a:sx n="50" d="100"/>
          <a:sy n="50" d="100"/>
        </p:scale>
        <p:origin x="200" y="1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B0A4A-AC62-324F-8BA7-B9FC8B1CF9E5}" type="datetimeFigureOut">
              <a:rPr lang="en-CN" smtClean="0"/>
              <a:t>2026/10/9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3B75C-8DA1-154A-8E3B-3169F9FA42E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417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4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9246" y="2734671"/>
            <a:ext cx="11529509" cy="198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39"/>
              </a:lnSpc>
              <a:spcBef>
                <a:spcPct val="0"/>
              </a:spcBef>
            </a:pPr>
            <a:r>
              <a:rPr lang="en-US" sz="11599" b="1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OUR VOICE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60577" y="5347972"/>
            <a:ext cx="996684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A program made by students, for the students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52858" y="6034317"/>
            <a:ext cx="958228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8"/>
              </a:lnSpc>
              <a:spcBef>
                <a:spcPct val="0"/>
              </a:spcBef>
            </a:pPr>
            <a:r>
              <a:rPr lang="en-US" sz="3455" i="1" dirty="0">
                <a:solidFill>
                  <a:srgbClr val="222221"/>
                </a:solidFill>
                <a:latin typeface="Anantason Expanded Medium"/>
                <a:ea typeface="Anantason Expanded Medium"/>
                <a:cs typeface="Anantason Expanded Medium"/>
                <a:sym typeface="Anantason Expanded Medium"/>
              </a:rPr>
              <a:t>SPEAK YOUR MIND. SHAPE OUR FUTURE.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9256" y="1334785"/>
            <a:ext cx="5477150" cy="148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27"/>
              </a:lnSpc>
              <a:spcBef>
                <a:spcPct val="0"/>
              </a:spcBef>
            </a:pPr>
            <a:r>
              <a:rPr lang="en-US" sz="8662" b="1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AGENDA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77200" y="4076700"/>
            <a:ext cx="9124655" cy="475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7462" lvl="1" indent="-418731" algn="l">
              <a:lnSpc>
                <a:spcPts val="9697"/>
              </a:lnSpc>
              <a:buFont typeface="Arial"/>
              <a:buChar char="•"/>
            </a:pPr>
            <a:r>
              <a:rPr lang="en-US" sz="40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Introduction</a:t>
            </a:r>
            <a:r>
              <a:rPr lang="zh-CN" altLang="en-US" sz="40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 </a:t>
            </a:r>
            <a:endParaRPr lang="en-US" sz="4000" dirty="0">
              <a:solidFill>
                <a:srgbClr val="222221"/>
              </a:solidFill>
              <a:latin typeface="Anantason Expanded"/>
              <a:ea typeface="Anantason Expanded"/>
              <a:cs typeface="Anantason Expanded"/>
              <a:sym typeface="Anantason Expanded"/>
            </a:endParaRPr>
          </a:p>
          <a:p>
            <a:pPr marL="837462" lvl="1" indent="-418731" algn="l">
              <a:lnSpc>
                <a:spcPts val="9697"/>
              </a:lnSpc>
              <a:buFont typeface="Arial"/>
              <a:buChar char="•"/>
            </a:pPr>
            <a:r>
              <a:rPr lang="en-US" sz="4000" dirty="0">
                <a:solidFill>
                  <a:srgbClr val="222221"/>
                </a:solidFill>
                <a:latin typeface="Anantason Expanded"/>
                <a:ea typeface="Heiti TC Medium" pitchFamily="2" charset="-128"/>
                <a:cs typeface="Anantason Expanded"/>
                <a:sym typeface="Anantason Expanded"/>
              </a:rPr>
              <a:t>Follow-ups</a:t>
            </a:r>
          </a:p>
          <a:p>
            <a:pPr marL="837462" lvl="1" indent="-418731" algn="l">
              <a:lnSpc>
                <a:spcPts val="9697"/>
              </a:lnSpc>
              <a:buFont typeface="Arial"/>
              <a:buChar char="•"/>
            </a:pPr>
            <a:r>
              <a:rPr lang="en-US" sz="4000" dirty="0">
                <a:solidFill>
                  <a:srgbClr val="222221"/>
                </a:solidFill>
                <a:latin typeface="Anantason Expanded"/>
                <a:ea typeface="Heiti TC Medium" pitchFamily="2" charset="-128"/>
                <a:cs typeface="Anantason Expanded"/>
                <a:sym typeface="Anantason Expanded"/>
              </a:rPr>
              <a:t>New Updates</a:t>
            </a:r>
          </a:p>
          <a:p>
            <a:pPr marL="837462" lvl="1" indent="-418731" algn="l">
              <a:lnSpc>
                <a:spcPts val="9697"/>
              </a:lnSpc>
              <a:buFont typeface="Arial"/>
              <a:buChar char="•"/>
            </a:pPr>
            <a:endParaRPr lang="en-US" sz="4000" dirty="0">
              <a:solidFill>
                <a:srgbClr val="222221"/>
              </a:solidFill>
              <a:latin typeface="Heiti TC Medium" pitchFamily="2" charset="-128"/>
              <a:ea typeface="Heiti TC Medium" pitchFamily="2" charset="-128"/>
              <a:cs typeface="Anantason Expanded"/>
              <a:sym typeface="Anantason Expanded"/>
            </a:endParaRPr>
          </a:p>
        </p:txBody>
      </p:sp>
      <p:sp>
        <p:nvSpPr>
          <p:cNvPr id="6" name="title-zh">
            <a:extLst>
              <a:ext uri="{FF2B5EF4-FFF2-40B4-BE49-F238E27FC236}">
                <a16:creationId xmlns:a16="http://schemas.microsoft.com/office/drawing/2014/main" id="{56E5B40C-BFDB-5E4A-3579-3F2801B22BCD}"/>
              </a:ext>
            </a:extLst>
          </p:cNvPr>
          <p:cNvSpPr>
            <a:spLocks noGrp="1"/>
          </p:cNvSpPr>
          <p:nvPr/>
        </p:nvSpPr>
        <p:spPr>
          <a:xfrm>
            <a:off x="1359256" y="2819733"/>
            <a:ext cx="1238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lang="en-US" sz="6000" b="1" dirty="0" err="1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目录</a:t>
            </a:r>
            <a:endParaRPr sz="6000" b="1" dirty="0">
              <a:solidFill>
                <a:srgbClr val="232323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03920" y="2882596"/>
            <a:ext cx="4680159" cy="1140257"/>
          </a:xfrm>
          <a:custGeom>
            <a:avLst/>
            <a:gdLst/>
            <a:ahLst/>
            <a:cxnLst/>
            <a:rect l="l" t="t" r="r" b="b"/>
            <a:pathLst>
              <a:path w="4680159" h="1140257">
                <a:moveTo>
                  <a:pt x="0" y="0"/>
                </a:moveTo>
                <a:lnTo>
                  <a:pt x="4680158" y="0"/>
                </a:lnTo>
                <a:lnTo>
                  <a:pt x="4680158" y="1140257"/>
                </a:lnTo>
                <a:lnTo>
                  <a:pt x="0" y="1140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N"/>
          </a:p>
        </p:txBody>
      </p:sp>
      <p:sp>
        <p:nvSpPr>
          <p:cNvPr id="3" name="TextBox 3"/>
          <p:cNvSpPr txBox="1"/>
          <p:nvPr/>
        </p:nvSpPr>
        <p:spPr>
          <a:xfrm>
            <a:off x="7047495" y="3289511"/>
            <a:ext cx="4193007" cy="634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222221"/>
                </a:solidFill>
                <a:latin typeface="Anantason Expanded Bold"/>
                <a:ea typeface="Anantason Expanded Bold"/>
                <a:cs typeface="Anantason Expanded Bold"/>
                <a:sym typeface="Anantason Expanded Bold"/>
              </a:rPr>
              <a:t>OUR VOICE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33600" y="5065994"/>
            <a:ext cx="14616633" cy="6805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sz="4359" dirty="0">
                <a:solidFill>
                  <a:srgbClr val="222221"/>
                </a:solidFill>
                <a:latin typeface="Heiti TC Medium" pitchFamily="2" charset="-128"/>
                <a:ea typeface="Heiti TC Medium" pitchFamily="2" charset="-128"/>
                <a:cs typeface="Anantason Expanded Ultra-Bold"/>
                <a:sym typeface="Anantason Expanded Ultra-Bold"/>
              </a:rPr>
              <a:t>你有遇到过对学校有想法、建议、意见无处诉说的情况吗？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89040" y="6793716"/>
            <a:ext cx="11509921" cy="110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4"/>
              </a:lnSpc>
              <a:spcBef>
                <a:spcPct val="0"/>
              </a:spcBef>
            </a:pPr>
            <a:r>
              <a:rPr lang="en-US" sz="3174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Do you have suggestions, discontent, or ideas that you want to share but have no one to talk 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79246" y="4203700"/>
            <a:ext cx="11529509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24"/>
              </a:lnSpc>
              <a:spcBef>
                <a:spcPct val="0"/>
              </a:spcBef>
            </a:pPr>
            <a:r>
              <a:rPr lang="en-US" sz="9874" b="1" dirty="0">
                <a:solidFill>
                  <a:srgbClr val="FFC000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OUR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00998" y="7862408"/>
            <a:ext cx="1048600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Our Voice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92975" y="2321476"/>
            <a:ext cx="2612231" cy="143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24"/>
              </a:lnSpc>
              <a:spcBef>
                <a:spcPct val="0"/>
              </a:spcBef>
            </a:pPr>
            <a:r>
              <a:rPr lang="en-US" sz="8374" b="1" dirty="0">
                <a:solidFill>
                  <a:srgbClr val="222221"/>
                </a:solidFill>
                <a:latin typeface="Anantason Expanded Bold"/>
                <a:ea typeface="Anantason Expanded Bold"/>
                <a:cs typeface="Anantason Expanded Bold"/>
                <a:sym typeface="Anantason Expanded Bold"/>
              </a:rPr>
              <a:t>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08431" y="5521778"/>
            <a:ext cx="2200647" cy="163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58"/>
              </a:lnSpc>
              <a:spcBef>
                <a:spcPct val="0"/>
              </a:spcBef>
            </a:pPr>
            <a:r>
              <a:rPr lang="en-US" sz="9541" b="1" dirty="0">
                <a:solidFill>
                  <a:srgbClr val="222221"/>
                </a:solidFill>
                <a:latin typeface="Anantason Expanded Bold"/>
                <a:ea typeface="Anantason Expanded Bold"/>
                <a:cs typeface="Anantason Expanded Bold"/>
                <a:sym typeface="Anantason Expanded Bold"/>
              </a:rPr>
              <a:t> US</a:t>
            </a:r>
          </a:p>
        </p:txBody>
      </p:sp>
      <p:sp>
        <p:nvSpPr>
          <p:cNvPr id="6" name="AutoShape 6"/>
          <p:cNvSpPr/>
          <p:nvPr/>
        </p:nvSpPr>
        <p:spPr>
          <a:xfrm>
            <a:off x="4191000" y="3700460"/>
            <a:ext cx="3086191" cy="1435103"/>
          </a:xfrm>
          <a:prstGeom prst="line">
            <a:avLst/>
          </a:prstGeom>
          <a:ln w="171450" cap="rnd">
            <a:solidFill>
              <a:srgbClr val="22222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N"/>
          </a:p>
        </p:txBody>
      </p:sp>
      <p:sp>
        <p:nvSpPr>
          <p:cNvPr id="7" name="AutoShape 7"/>
          <p:cNvSpPr/>
          <p:nvPr/>
        </p:nvSpPr>
        <p:spPr>
          <a:xfrm flipH="1" flipV="1">
            <a:off x="10951354" y="5143500"/>
            <a:ext cx="2857077" cy="1285799"/>
          </a:xfrm>
          <a:prstGeom prst="line">
            <a:avLst/>
          </a:prstGeom>
          <a:ln w="171450" cap="rnd">
            <a:solidFill>
              <a:srgbClr val="22222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0200" y="3603283"/>
            <a:ext cx="15018085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48"/>
              </a:lnSpc>
              <a:spcBef>
                <a:spcPct val="0"/>
              </a:spcBef>
            </a:pPr>
            <a:r>
              <a:rPr lang="en-US" sz="6105" b="1" spc="512" dirty="0" err="1">
                <a:solidFill>
                  <a:srgbClr val="222221"/>
                </a:solidFill>
                <a:latin typeface="Anantason Expanded Bold"/>
                <a:ea typeface="Anantason Expanded Bold"/>
                <a:cs typeface="Anantason Expanded Bold"/>
                <a:sym typeface="Anantason Expanded Bold"/>
              </a:rPr>
              <a:t>ourvoice@hd.kaiwenacademy.cn</a:t>
            </a:r>
            <a:endParaRPr lang="en-US" sz="6105" b="1" spc="512" dirty="0">
              <a:solidFill>
                <a:srgbClr val="222221"/>
              </a:solidFill>
              <a:latin typeface="Anantason Expanded Bold"/>
              <a:ea typeface="Anantason Expanded Bold"/>
              <a:cs typeface="Anantason Expanded Bold"/>
              <a:sym typeface="Anantason Expand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584342" y="7027786"/>
            <a:ext cx="5119315" cy="67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3799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build a better campus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2331" y="647700"/>
            <a:ext cx="1220465" cy="329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00"/>
              </a:lnSpc>
              <a:spcBef>
                <a:spcPct val="0"/>
              </a:spcBef>
            </a:pPr>
            <a:r>
              <a:rPr lang="en-US" sz="19143" b="1" dirty="0">
                <a:solidFill>
                  <a:srgbClr val="FFBD59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“</a:t>
            </a:r>
          </a:p>
        </p:txBody>
      </p:sp>
      <p:sp>
        <p:nvSpPr>
          <p:cNvPr id="5" name="TextBox 5"/>
          <p:cNvSpPr txBox="1"/>
          <p:nvPr/>
        </p:nvSpPr>
        <p:spPr>
          <a:xfrm rot="-10800000">
            <a:off x="16038835" y="5675468"/>
            <a:ext cx="1220465" cy="329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00"/>
              </a:lnSpc>
              <a:spcBef>
                <a:spcPct val="0"/>
              </a:spcBef>
            </a:pPr>
            <a:r>
              <a:rPr lang="en-US" sz="19143" b="1" dirty="0">
                <a:solidFill>
                  <a:srgbClr val="FFBD59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60883" y="1943585"/>
            <a:ext cx="8480760" cy="639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6300"/>
              </a:lnSpc>
              <a:buFont typeface="Arial"/>
              <a:buChar char="•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Your suggestions: </a:t>
            </a:r>
          </a:p>
          <a:p>
            <a:pPr marL="1554480" lvl="2" indent="-518160" algn="l">
              <a:lnSpc>
                <a:spcPts val="6300"/>
              </a:lnSpc>
              <a:buFont typeface="Arial"/>
              <a:buChar char="⚬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school departments, activities </a:t>
            </a:r>
          </a:p>
          <a:p>
            <a:pPr marL="777240" lvl="1" indent="-388620" algn="l">
              <a:lnSpc>
                <a:spcPts val="6300"/>
              </a:lnSpc>
              <a:buFont typeface="Arial"/>
              <a:buChar char="•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Your ideas</a:t>
            </a:r>
            <a:r>
              <a:rPr lang="zh-CN" alt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：</a:t>
            </a:r>
            <a:endParaRPr lang="en-US" sz="3600" dirty="0">
              <a:solidFill>
                <a:srgbClr val="222221"/>
              </a:solidFill>
              <a:latin typeface="Anantason Expanded"/>
              <a:ea typeface="Anantason Expanded"/>
              <a:cs typeface="Anantason Expanded"/>
              <a:sym typeface="Anantason Expanded"/>
            </a:endParaRPr>
          </a:p>
          <a:p>
            <a:pPr marL="1554480" lvl="2" indent="-518160" algn="l">
              <a:lnSpc>
                <a:spcPts val="6300"/>
              </a:lnSpc>
              <a:buFont typeface="Arial"/>
              <a:buChar char="⚬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clubs, initiatives, projects</a:t>
            </a:r>
          </a:p>
          <a:p>
            <a:pPr marL="777240" lvl="1" indent="-388620" algn="l">
              <a:lnSpc>
                <a:spcPts val="6300"/>
              </a:lnSpc>
              <a:buFont typeface="Arial"/>
              <a:buChar char="•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Your questions:</a:t>
            </a:r>
          </a:p>
          <a:p>
            <a:pPr marL="1554480" lvl="2" indent="-518160" algn="l">
              <a:lnSpc>
                <a:spcPts val="6300"/>
              </a:lnSpc>
              <a:buFont typeface="Arial"/>
              <a:buChar char="⚬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Our duties, activities...</a:t>
            </a:r>
          </a:p>
          <a:p>
            <a:pPr marL="777240" lvl="1" indent="-388620">
              <a:lnSpc>
                <a:spcPts val="6300"/>
              </a:lnSpc>
              <a:buFont typeface="Arial"/>
              <a:buChar char="•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Promote your initiatives:</a:t>
            </a:r>
          </a:p>
          <a:p>
            <a:pPr marL="1554480" lvl="2" indent="-518160">
              <a:lnSpc>
                <a:spcPts val="6300"/>
              </a:lnSpc>
              <a:buFont typeface="Arial"/>
              <a:buChar char="⚬"/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Programs, shows, clubs...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4040" y="1999764"/>
            <a:ext cx="6251443" cy="634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WHAT CAN </a:t>
            </a:r>
          </a:p>
          <a:p>
            <a:pPr algn="l">
              <a:lnSpc>
                <a:spcPts val="12599"/>
              </a:lnSpc>
            </a:pPr>
            <a:r>
              <a:rPr lang="en-US" sz="9000" b="1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YOU</a:t>
            </a:r>
          </a:p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DO?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1728BAE-A45C-A859-A1C4-694FB20EC99F}"/>
              </a:ext>
            </a:extLst>
          </p:cNvPr>
          <p:cNvSpPr txBox="1"/>
          <p:nvPr/>
        </p:nvSpPr>
        <p:spPr>
          <a:xfrm>
            <a:off x="4876800" y="6919056"/>
            <a:ext cx="6251443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EDA35-C364-4C86-6EAE-194132BE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2296039-5641-98B6-F653-88140EDE7B51}"/>
              </a:ext>
            </a:extLst>
          </p:cNvPr>
          <p:cNvSpPr txBox="1"/>
          <p:nvPr/>
        </p:nvSpPr>
        <p:spPr>
          <a:xfrm>
            <a:off x="1506410" y="4335586"/>
            <a:ext cx="15275179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FOLLOW-UPS</a:t>
            </a:r>
          </a:p>
        </p:txBody>
      </p:sp>
    </p:spTree>
    <p:extLst>
      <p:ext uri="{BB962C8B-B14F-4D97-AF65-F5344CB8AC3E}">
        <p14:creationId xmlns:p14="http://schemas.microsoft.com/office/powerpoint/2010/main" val="2684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8385EA45-11D5-4D3C-923E-B40AD07AF68F}"/>
              </a:ext>
            </a:extLst>
          </p:cNvPr>
          <p:cNvSpPr>
            <a:spLocks noGrp="1"/>
          </p:cNvSpPr>
          <p:nvPr/>
        </p:nvSpPr>
        <p:spPr>
          <a:xfrm>
            <a:off x="1028700" y="95631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OUR VOICE</a:t>
            </a:r>
          </a:p>
        </p:txBody>
      </p:sp>
      <p:sp>
        <p:nvSpPr>
          <p:cNvPr id="3" name="tagline">
            <a:extLst>
              <a:ext uri="{FF2B5EF4-FFF2-40B4-BE49-F238E27FC236}">
                <a16:creationId xmlns:a16="http://schemas.microsoft.com/office/drawing/2014/main" id="{A6FB1204-1A43-4CCB-9D2B-19532D7A8FA8}"/>
              </a:ext>
            </a:extLst>
          </p:cNvPr>
          <p:cNvSpPr>
            <a:spLocks noGrp="1"/>
          </p:cNvSpPr>
          <p:nvPr/>
        </p:nvSpPr>
        <p:spPr>
          <a:xfrm>
            <a:off x="11049000" y="9563100"/>
            <a:ext cx="6210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SPEAK YOUR MIND. SHAPE OUR FUTURE.</a:t>
            </a:r>
          </a:p>
        </p:txBody>
      </p:sp>
      <p:sp>
        <p:nvSpPr>
          <p:cNvPr id="4" name="icon">
            <a:extLst>
              <a:ext uri="{FF2B5EF4-FFF2-40B4-BE49-F238E27FC236}">
                <a16:creationId xmlns:a16="http://schemas.microsoft.com/office/drawing/2014/main" id="{CB6C81A9-17D2-4957-8F44-D05CD7A020BA}"/>
              </a:ext>
            </a:extLst>
          </p:cNvPr>
          <p:cNvSpPr>
            <a:spLocks noGrp="1"/>
          </p:cNvSpPr>
          <p:nvPr/>
        </p:nvSpPr>
        <p:spPr>
          <a:xfrm>
            <a:off x="1200150" y="1666875"/>
            <a:ext cx="20955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25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8625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rPr>
              <a:t>☕</a:t>
            </a:r>
          </a:p>
        </p:txBody>
      </p:sp>
      <p:sp>
        <p:nvSpPr>
          <p:cNvPr id="5" name="title-en">
            <a:extLst>
              <a:ext uri="{FF2B5EF4-FFF2-40B4-BE49-F238E27FC236}">
                <a16:creationId xmlns:a16="http://schemas.microsoft.com/office/drawing/2014/main" id="{0509E17B-38A1-4F33-BDD6-8D81EBF9C8DF}"/>
              </a:ext>
            </a:extLst>
          </p:cNvPr>
          <p:cNvSpPr>
            <a:spLocks noGrp="1"/>
          </p:cNvSpPr>
          <p:nvPr/>
        </p:nvSpPr>
        <p:spPr>
          <a:xfrm>
            <a:off x="3762375" y="1428750"/>
            <a:ext cx="12763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480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FACE PAYMENT IS</a:t>
            </a:r>
          </a:p>
          <a:p>
            <a:pPr algn="l">
              <a:lnSpc>
                <a:spcPct val="100000"/>
              </a:lnSpc>
              <a:buNone/>
              <a:defRPr sz="480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480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CURRENTLY UNAVAILABLE</a:t>
            </a:r>
          </a:p>
        </p:txBody>
      </p:sp>
      <p:sp>
        <p:nvSpPr>
          <p:cNvPr id="6" name="title-zh">
            <a:extLst>
              <a:ext uri="{FF2B5EF4-FFF2-40B4-BE49-F238E27FC236}">
                <a16:creationId xmlns:a16="http://schemas.microsoft.com/office/drawing/2014/main" id="{0C03015B-F124-45CA-875F-DE006668E4FB}"/>
              </a:ext>
            </a:extLst>
          </p:cNvPr>
          <p:cNvSpPr>
            <a:spLocks noGrp="1"/>
          </p:cNvSpPr>
          <p:nvPr/>
        </p:nvSpPr>
        <p:spPr>
          <a:xfrm>
            <a:off x="3810000" y="3714750"/>
            <a:ext cx="1238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 dirty="0" err="1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目前无法使用扫脸支付</a:t>
            </a:r>
            <a:endParaRPr sz="3150" b="1" dirty="0">
              <a:solidFill>
                <a:srgbClr val="23232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detail-en">
            <a:extLst>
              <a:ext uri="{FF2B5EF4-FFF2-40B4-BE49-F238E27FC236}">
                <a16:creationId xmlns:a16="http://schemas.microsoft.com/office/drawing/2014/main" id="{D765F2E0-8063-4C41-8594-86793D1E26EF}"/>
              </a:ext>
            </a:extLst>
          </p:cNvPr>
          <p:cNvSpPr>
            <a:spLocks noGrp="1"/>
          </p:cNvSpPr>
          <p:nvPr/>
        </p:nvSpPr>
        <p:spPr>
          <a:xfrm>
            <a:off x="3810000" y="4810125"/>
            <a:ext cx="12192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0">
                <a:solidFill>
                  <a:srgbClr val="4D4A46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2175" b="0">
                <a:solidFill>
                  <a:srgbClr val="4D4A46"/>
                </a:solidFill>
                <a:latin typeface="Anantason Expanded"/>
                <a:ea typeface="Anantason Expanded"/>
                <a:cs typeface="Anantason Expanded"/>
              </a:rPr>
              <a:t>Alipay and WeChat face payment are both unavailable for now.</a:t>
            </a:r>
          </a:p>
        </p:txBody>
      </p:sp>
      <p:sp>
        <p:nvSpPr>
          <p:cNvPr id="8" name="detail-zh">
            <a:extLst>
              <a:ext uri="{FF2B5EF4-FFF2-40B4-BE49-F238E27FC236}">
                <a16:creationId xmlns:a16="http://schemas.microsoft.com/office/drawing/2014/main" id="{D3DAAB2F-E455-4F1D-87BB-1ACCAC1AF6D7}"/>
              </a:ext>
            </a:extLst>
          </p:cNvPr>
          <p:cNvSpPr>
            <a:spLocks noGrp="1"/>
          </p:cNvSpPr>
          <p:nvPr/>
        </p:nvSpPr>
        <p:spPr>
          <a:xfrm>
            <a:off x="3810000" y="5476875"/>
            <a:ext cx="12192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0">
                <a:solidFill>
                  <a:srgbClr val="4D4A4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4D4A46"/>
                </a:solidFill>
                <a:latin typeface="PingFang SC"/>
                <a:ea typeface="PingFang SC"/>
                <a:cs typeface="PingFang SC"/>
              </a:rPr>
              <a:t>支付宝和微信目前均无法通过扫脸完成支付。</a:t>
            </a:r>
          </a:p>
        </p:txBody>
      </p:sp>
      <p:sp>
        <p:nvSpPr>
          <p:cNvPr id="9" name="mail-icon">
            <a:extLst>
              <a:ext uri="{FF2B5EF4-FFF2-40B4-BE49-F238E27FC236}">
                <a16:creationId xmlns:a16="http://schemas.microsoft.com/office/drawing/2014/main" id="{8108D097-2167-47A3-A362-FCAA22C9650A}"/>
              </a:ext>
            </a:extLst>
          </p:cNvPr>
          <p:cNvSpPr>
            <a:spLocks noGrp="1"/>
          </p:cNvSpPr>
          <p:nvPr/>
        </p:nvSpPr>
        <p:spPr>
          <a:xfrm>
            <a:off x="3810000" y="6858000"/>
            <a:ext cx="8096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600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600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rPr>
              <a:t>📩</a:t>
            </a:r>
          </a:p>
        </p:txBody>
      </p:sp>
      <p:sp>
        <p:nvSpPr>
          <p:cNvPr id="10" name="action-en">
            <a:extLst>
              <a:ext uri="{FF2B5EF4-FFF2-40B4-BE49-F238E27FC236}">
                <a16:creationId xmlns:a16="http://schemas.microsoft.com/office/drawing/2014/main" id="{32F76548-A8A6-4EEA-8026-8B6DCCC625E5}"/>
              </a:ext>
            </a:extLst>
          </p:cNvPr>
          <p:cNvSpPr>
            <a:spLocks noGrp="1"/>
          </p:cNvSpPr>
          <p:nvPr/>
        </p:nvSpPr>
        <p:spPr>
          <a:xfrm>
            <a:off x="4810125" y="6762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875" b="1" dirty="0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rPr>
              <a:t>PAYMENT BINDING INSTRUCTIONS</a:t>
            </a:r>
          </a:p>
        </p:txBody>
      </p:sp>
      <p:sp>
        <p:nvSpPr>
          <p:cNvPr id="11" name="action-copy-en">
            <a:extLst>
              <a:ext uri="{FF2B5EF4-FFF2-40B4-BE49-F238E27FC236}">
                <a16:creationId xmlns:a16="http://schemas.microsoft.com/office/drawing/2014/main" id="{6D5D4B31-0A4C-4D63-8994-1B6598BECF82}"/>
              </a:ext>
            </a:extLst>
          </p:cNvPr>
          <p:cNvSpPr>
            <a:spLocks noGrp="1"/>
          </p:cNvSpPr>
          <p:nvPr/>
        </p:nvSpPr>
        <p:spPr>
          <a:xfrm>
            <a:off x="4810125" y="7334250"/>
            <a:ext cx="11430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2025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The Division will send the instructions again by email.</a:t>
            </a:r>
          </a:p>
        </p:txBody>
      </p:sp>
      <p:sp>
        <p:nvSpPr>
          <p:cNvPr id="12" name="action-copy-zh">
            <a:extLst>
              <a:ext uri="{FF2B5EF4-FFF2-40B4-BE49-F238E27FC236}">
                <a16:creationId xmlns:a16="http://schemas.microsoft.com/office/drawing/2014/main" id="{D353671E-9FE7-44EF-8BBB-2E0C0CC8F86A}"/>
              </a:ext>
            </a:extLst>
          </p:cNvPr>
          <p:cNvSpPr>
            <a:spLocks noGrp="1"/>
          </p:cNvSpPr>
          <p:nvPr/>
        </p:nvSpPr>
        <p:spPr>
          <a:xfrm>
            <a:off x="4810125" y="7886700"/>
            <a:ext cx="11430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学部将通过邮箱再次发送咖啡厅支付绑定说明。</a:t>
            </a:r>
          </a:p>
        </p:txBody>
      </p:sp>
    </p:spTree>
    <p:extLst>
      <p:ext uri="{BB962C8B-B14F-4D97-AF65-F5344CB8AC3E}">
        <p14:creationId xmlns:p14="http://schemas.microsoft.com/office/powerpoint/2010/main" val="222786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CDD17-2FC5-E989-A7EB-B5BC1A9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2801EC5-EB6E-099F-9BD0-B7BD7E44F178}"/>
              </a:ext>
            </a:extLst>
          </p:cNvPr>
          <p:cNvSpPr txBox="1"/>
          <p:nvPr/>
        </p:nvSpPr>
        <p:spPr>
          <a:xfrm>
            <a:off x="4495800" y="4335586"/>
            <a:ext cx="15275179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NEW UPDATES</a:t>
            </a:r>
          </a:p>
        </p:txBody>
      </p:sp>
    </p:spTree>
    <p:extLst>
      <p:ext uri="{BB962C8B-B14F-4D97-AF65-F5344CB8AC3E}">
        <p14:creationId xmlns:p14="http://schemas.microsoft.com/office/powerpoint/2010/main" val="49089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8BBC37B0-6387-43E8-A1AB-F5DBEF0E00BF}"/>
              </a:ext>
            </a:extLst>
          </p:cNvPr>
          <p:cNvSpPr>
            <a:spLocks noGrp="1"/>
          </p:cNvSpPr>
          <p:nvPr/>
        </p:nvSpPr>
        <p:spPr>
          <a:xfrm>
            <a:off x="1028700" y="95631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OUR VOICE</a:t>
            </a:r>
          </a:p>
        </p:txBody>
      </p:sp>
      <p:sp>
        <p:nvSpPr>
          <p:cNvPr id="3" name="tagline">
            <a:extLst>
              <a:ext uri="{FF2B5EF4-FFF2-40B4-BE49-F238E27FC236}">
                <a16:creationId xmlns:a16="http://schemas.microsoft.com/office/drawing/2014/main" id="{6DFD5459-0C97-4C94-9F34-60A23AC096AB}"/>
              </a:ext>
            </a:extLst>
          </p:cNvPr>
          <p:cNvSpPr>
            <a:spLocks noGrp="1"/>
          </p:cNvSpPr>
          <p:nvPr/>
        </p:nvSpPr>
        <p:spPr>
          <a:xfrm>
            <a:off x="11049000" y="9563100"/>
            <a:ext cx="6210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SPEAK YOUR MIND. SHAPE OUR FUTURE.</a:t>
            </a:r>
          </a:p>
        </p:txBody>
      </p:sp>
      <p:sp>
        <p:nvSpPr>
          <p:cNvPr id="4" name="question-en">
            <a:extLst>
              <a:ext uri="{FF2B5EF4-FFF2-40B4-BE49-F238E27FC236}">
                <a16:creationId xmlns:a16="http://schemas.microsoft.com/office/drawing/2014/main" id="{BF88D210-DFE1-431F-BAE7-C09B2009D937}"/>
              </a:ext>
            </a:extLst>
          </p:cNvPr>
          <p:cNvSpPr>
            <a:spLocks noGrp="1"/>
          </p:cNvSpPr>
          <p:nvPr/>
        </p:nvSpPr>
        <p:spPr>
          <a:xfrm>
            <a:off x="1476375" y="1524000"/>
            <a:ext cx="1133475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900" dirty="0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ARE OUR VOICE AND THE</a:t>
            </a:r>
          </a:p>
          <a:p>
            <a:pPr algn="l">
              <a:lnSpc>
                <a:spcPct val="100000"/>
              </a:lnSpc>
              <a:buNone/>
              <a:defRPr sz="390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900" dirty="0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STUDENT COUNCIL THE SAME ORGANIZATION?</a:t>
            </a:r>
          </a:p>
        </p:txBody>
      </p:sp>
      <p:sp>
        <p:nvSpPr>
          <p:cNvPr id="5" name="question-zh">
            <a:extLst>
              <a:ext uri="{FF2B5EF4-FFF2-40B4-BE49-F238E27FC236}">
                <a16:creationId xmlns:a16="http://schemas.microsoft.com/office/drawing/2014/main" id="{0F8A06D8-3949-4165-BB20-F85FF0F5BB5D}"/>
              </a:ext>
            </a:extLst>
          </p:cNvPr>
          <p:cNvSpPr>
            <a:spLocks noGrp="1"/>
          </p:cNvSpPr>
          <p:nvPr/>
        </p:nvSpPr>
        <p:spPr>
          <a:xfrm>
            <a:off x="1524000" y="3857625"/>
            <a:ext cx="11239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我们和学生会是同一个组织吗？</a:t>
            </a:r>
          </a:p>
        </p:txBody>
      </p:sp>
      <p:sp>
        <p:nvSpPr>
          <p:cNvPr id="6" name="answer">
            <a:extLst>
              <a:ext uri="{FF2B5EF4-FFF2-40B4-BE49-F238E27FC236}">
                <a16:creationId xmlns:a16="http://schemas.microsoft.com/office/drawing/2014/main" id="{C4101AF0-B5B6-400A-B1D9-F5EEF8B76A98}"/>
              </a:ext>
            </a:extLst>
          </p:cNvPr>
          <p:cNvSpPr>
            <a:spLocks noGrp="1"/>
          </p:cNvSpPr>
          <p:nvPr/>
        </p:nvSpPr>
        <p:spPr>
          <a:xfrm>
            <a:off x="13049250" y="1666875"/>
            <a:ext cx="36195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350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0350" b="1" dirty="0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rPr>
              <a:t>NO</a:t>
            </a:r>
          </a:p>
        </p:txBody>
      </p:sp>
      <p:sp>
        <p:nvSpPr>
          <p:cNvPr id="7" name="explain-en">
            <a:extLst>
              <a:ext uri="{FF2B5EF4-FFF2-40B4-BE49-F238E27FC236}">
                <a16:creationId xmlns:a16="http://schemas.microsoft.com/office/drawing/2014/main" id="{4F684E75-9E5A-4769-93A2-CE7F98B836E8}"/>
              </a:ext>
            </a:extLst>
          </p:cNvPr>
          <p:cNvSpPr>
            <a:spLocks noGrp="1"/>
          </p:cNvSpPr>
          <p:nvPr/>
        </p:nvSpPr>
        <p:spPr>
          <a:xfrm>
            <a:off x="2762250" y="5619750"/>
            <a:ext cx="127635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15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150" b="1" dirty="0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OUR VOICE FOCUSES ON HELPING STUDENTS</a:t>
            </a:r>
          </a:p>
          <a:p>
            <a:pPr algn="ctr">
              <a:lnSpc>
                <a:spcPct val="100000"/>
              </a:lnSpc>
              <a:buNone/>
              <a:defRPr sz="315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150" b="1" dirty="0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RAISE CONCERNS AND SOLVE PROBLEMS.</a:t>
            </a:r>
          </a:p>
        </p:txBody>
      </p:sp>
      <p:sp>
        <p:nvSpPr>
          <p:cNvPr id="8" name="explain-zh">
            <a:extLst>
              <a:ext uri="{FF2B5EF4-FFF2-40B4-BE49-F238E27FC236}">
                <a16:creationId xmlns:a16="http://schemas.microsoft.com/office/drawing/2014/main" id="{3C4F03E3-472F-4008-986F-E38D0DEFCBA8}"/>
              </a:ext>
            </a:extLst>
          </p:cNvPr>
          <p:cNvSpPr>
            <a:spLocks noGrp="1"/>
          </p:cNvSpPr>
          <p:nvPr/>
        </p:nvSpPr>
        <p:spPr>
          <a:xfrm>
            <a:off x="2857500" y="7239000"/>
            <a:ext cx="12573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325" b="0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 dirty="0" err="1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我们更关注倾听大家的声音，并帮助大家解决实际问题</a:t>
            </a:r>
            <a:r>
              <a:rPr sz="2325" b="0" dirty="0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9" name="emoji">
            <a:extLst>
              <a:ext uri="{FF2B5EF4-FFF2-40B4-BE49-F238E27FC236}">
                <a16:creationId xmlns:a16="http://schemas.microsoft.com/office/drawing/2014/main" id="{B1A8132D-135F-4CD4-942E-F358DF93AF10}"/>
              </a:ext>
            </a:extLst>
          </p:cNvPr>
          <p:cNvSpPr>
            <a:spLocks noGrp="1"/>
          </p:cNvSpPr>
          <p:nvPr/>
        </p:nvSpPr>
        <p:spPr>
          <a:xfrm>
            <a:off x="7239000" y="8143875"/>
            <a:ext cx="381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300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300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rPr>
              <a:t>💬  🤝</a:t>
            </a:r>
          </a:p>
        </p:txBody>
      </p:sp>
    </p:spTree>
    <p:extLst>
      <p:ext uri="{BB962C8B-B14F-4D97-AF65-F5344CB8AC3E}">
        <p14:creationId xmlns:p14="http://schemas.microsoft.com/office/powerpoint/2010/main" val="17189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E717A-3AF0-F45D-5369-8389A6CE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008EFCE-66E7-0ED9-E16B-F72BE71B97B6}"/>
              </a:ext>
            </a:extLst>
          </p:cNvPr>
          <p:cNvSpPr txBox="1"/>
          <p:nvPr/>
        </p:nvSpPr>
        <p:spPr>
          <a:xfrm>
            <a:off x="4724400" y="4335586"/>
            <a:ext cx="15275179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sz="9000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NEW WEBSITE</a:t>
            </a:r>
          </a:p>
        </p:txBody>
      </p:sp>
    </p:spTree>
    <p:extLst>
      <p:ext uri="{BB962C8B-B14F-4D97-AF65-F5344CB8AC3E}">
        <p14:creationId xmlns:p14="http://schemas.microsoft.com/office/powerpoint/2010/main" val="395116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-label">
            <a:extLst>
              <a:ext uri="{FF2B5EF4-FFF2-40B4-BE49-F238E27FC236}">
                <a16:creationId xmlns:a16="http://schemas.microsoft.com/office/drawing/2014/main" id="{EC69FD68-6AE9-4B47-92EF-C0BD883F6EA6}"/>
              </a:ext>
            </a:extLst>
          </p:cNvPr>
          <p:cNvSpPr>
            <a:spLocks noGrp="1"/>
          </p:cNvSpPr>
          <p:nvPr/>
        </p:nvSpPr>
        <p:spPr>
          <a:xfrm>
            <a:off x="1028700" y="514350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500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rPr>
              <a:t>03  JOIN OUR VOICE / 招新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A88B60BB-8D80-4EF4-8433-B5EAE93EEA23}"/>
              </a:ext>
            </a:extLst>
          </p:cNvPr>
          <p:cNvSpPr>
            <a:spLocks noGrp="1"/>
          </p:cNvSpPr>
          <p:nvPr/>
        </p:nvSpPr>
        <p:spPr>
          <a:xfrm>
            <a:off x="1028700" y="95631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OUR VOICE</a:t>
            </a:r>
          </a:p>
        </p:txBody>
      </p:sp>
      <p:sp>
        <p:nvSpPr>
          <p:cNvPr id="3" name="tagline">
            <a:extLst>
              <a:ext uri="{FF2B5EF4-FFF2-40B4-BE49-F238E27FC236}">
                <a16:creationId xmlns:a16="http://schemas.microsoft.com/office/drawing/2014/main" id="{3E7277D2-228C-4522-A1ED-B620FC325FE5}"/>
              </a:ext>
            </a:extLst>
          </p:cNvPr>
          <p:cNvSpPr>
            <a:spLocks noGrp="1"/>
          </p:cNvSpPr>
          <p:nvPr/>
        </p:nvSpPr>
        <p:spPr>
          <a:xfrm>
            <a:off x="11049000" y="9563100"/>
            <a:ext cx="6210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SPEAK YOUR MIND. SHAPE OUR FUTURE.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6F41D06-4C5C-4D0A-AFCA-91234682FCF9}"/>
              </a:ext>
            </a:extLst>
          </p:cNvPr>
          <p:cNvSpPr>
            <a:spLocks noGrp="1"/>
          </p:cNvSpPr>
          <p:nvPr/>
        </p:nvSpPr>
        <p:spPr>
          <a:xfrm>
            <a:off x="1333500" y="1285875"/>
            <a:ext cx="112395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615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6150" b="1" dirty="0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JOIN OUR VOICE</a:t>
            </a:r>
          </a:p>
        </p:txBody>
      </p:sp>
      <p:sp>
        <p:nvSpPr>
          <p:cNvPr id="5" name="title-zh">
            <a:extLst>
              <a:ext uri="{FF2B5EF4-FFF2-40B4-BE49-F238E27FC236}">
                <a16:creationId xmlns:a16="http://schemas.microsoft.com/office/drawing/2014/main" id="{F9D00A81-03D5-467D-A187-F2BFC80E6E59}"/>
              </a:ext>
            </a:extLst>
          </p:cNvPr>
          <p:cNvSpPr>
            <a:spLocks noGrp="1"/>
          </p:cNvSpPr>
          <p:nvPr/>
        </p:nvSpPr>
        <p:spPr>
          <a:xfrm>
            <a:off x="1381125" y="2857500"/>
            <a:ext cx="10287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和我们一起，让改变发生</a:t>
            </a:r>
          </a:p>
        </p:txBody>
      </p:sp>
      <p:sp>
        <p:nvSpPr>
          <p:cNvPr id="6" name="spark">
            <a:extLst>
              <a:ext uri="{FF2B5EF4-FFF2-40B4-BE49-F238E27FC236}">
                <a16:creationId xmlns:a16="http://schemas.microsoft.com/office/drawing/2014/main" id="{52FF1FA1-C806-433F-BA85-9F08C510348D}"/>
              </a:ext>
            </a:extLst>
          </p:cNvPr>
          <p:cNvSpPr>
            <a:spLocks noGrp="1"/>
          </p:cNvSpPr>
          <p:nvPr/>
        </p:nvSpPr>
        <p:spPr>
          <a:xfrm>
            <a:off x="13811250" y="1428750"/>
            <a:ext cx="2190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25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8625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rPr>
              <a:t>✨</a:t>
            </a:r>
          </a:p>
        </p:txBody>
      </p:sp>
      <p:sp>
        <p:nvSpPr>
          <p:cNvPr id="7" name="body-en">
            <a:extLst>
              <a:ext uri="{FF2B5EF4-FFF2-40B4-BE49-F238E27FC236}">
                <a16:creationId xmlns:a16="http://schemas.microsoft.com/office/drawing/2014/main" id="{E4465F54-45A3-430D-9CE4-D04749D5F247}"/>
              </a:ext>
            </a:extLst>
          </p:cNvPr>
          <p:cNvSpPr>
            <a:spLocks noGrp="1"/>
          </p:cNvSpPr>
          <p:nvPr/>
        </p:nvSpPr>
        <p:spPr>
          <a:xfrm>
            <a:off x="5048250" y="4421505"/>
            <a:ext cx="1323975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075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075" b="1" dirty="0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We are looking for students who are just as</a:t>
            </a:r>
          </a:p>
          <a:p>
            <a:pPr algn="ctr">
              <a:lnSpc>
                <a:spcPct val="100000"/>
              </a:lnSpc>
              <a:buNone/>
              <a:defRPr sz="3075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075" b="1" dirty="0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PASSIONATE ABOUT MAKING PROGRESS.</a:t>
            </a:r>
          </a:p>
        </p:txBody>
      </p:sp>
      <p:sp>
        <p:nvSpPr>
          <p:cNvPr id="8" name="body-zh">
            <a:extLst>
              <a:ext uri="{FF2B5EF4-FFF2-40B4-BE49-F238E27FC236}">
                <a16:creationId xmlns:a16="http://schemas.microsoft.com/office/drawing/2014/main" id="{1AB63F63-05B7-40E7-A1C1-89B3C264EF96}"/>
              </a:ext>
            </a:extLst>
          </p:cNvPr>
          <p:cNvSpPr>
            <a:spLocks noGrp="1"/>
          </p:cNvSpPr>
          <p:nvPr/>
        </p:nvSpPr>
        <p:spPr>
          <a:xfrm>
            <a:off x="4093410" y="6050280"/>
            <a:ext cx="12001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475" b="0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我们期待同样热爱推动进步的你加入。</a:t>
            </a:r>
          </a:p>
        </p:txBody>
      </p:sp>
      <p:sp>
        <p:nvSpPr>
          <p:cNvPr id="9" name="slogan">
            <a:extLst>
              <a:ext uri="{FF2B5EF4-FFF2-40B4-BE49-F238E27FC236}">
                <a16:creationId xmlns:a16="http://schemas.microsoft.com/office/drawing/2014/main" id="{2728D7AD-2D43-4DD8-BC7A-F803ABF92662}"/>
              </a:ext>
            </a:extLst>
          </p:cNvPr>
          <p:cNvSpPr>
            <a:spLocks noGrp="1"/>
          </p:cNvSpPr>
          <p:nvPr/>
        </p:nvSpPr>
        <p:spPr>
          <a:xfrm>
            <a:off x="7408110" y="7329487"/>
            <a:ext cx="112395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  <a:defRPr sz="3675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675" b="1" dirty="0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rPr>
              <a:t>SPEAK YOUR MIND.</a:t>
            </a:r>
          </a:p>
          <a:p>
            <a:pPr>
              <a:lnSpc>
                <a:spcPct val="100000"/>
              </a:lnSpc>
              <a:buNone/>
              <a:defRPr sz="3675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3675" b="1" dirty="0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rPr>
              <a:t>SHAPE OUR FUTURE.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AD6A72-1EEE-31E0-08D1-E9969F711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295775"/>
            <a:ext cx="47498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65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47083B20-5975-4487-A30E-AF1F6BA55889}"/>
              </a:ext>
            </a:extLst>
          </p:cNvPr>
          <p:cNvSpPr>
            <a:spLocks noGrp="1"/>
          </p:cNvSpPr>
          <p:nvPr/>
        </p:nvSpPr>
        <p:spPr>
          <a:xfrm>
            <a:off x="1028700" y="95631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OUR VOICE</a:t>
            </a:r>
          </a:p>
        </p:txBody>
      </p:sp>
      <p:sp>
        <p:nvSpPr>
          <p:cNvPr id="3" name="tagline">
            <a:extLst>
              <a:ext uri="{FF2B5EF4-FFF2-40B4-BE49-F238E27FC236}">
                <a16:creationId xmlns:a16="http://schemas.microsoft.com/office/drawing/2014/main" id="{D1F67657-61BF-4665-9FEF-E268A8D24E1E}"/>
              </a:ext>
            </a:extLst>
          </p:cNvPr>
          <p:cNvSpPr>
            <a:spLocks noGrp="1"/>
          </p:cNvSpPr>
          <p:nvPr/>
        </p:nvSpPr>
        <p:spPr>
          <a:xfrm>
            <a:off x="11049000" y="9563100"/>
            <a:ext cx="6210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1350" b="1">
                <a:solidFill>
                  <a:srgbClr val="6E6A65"/>
                </a:solidFill>
                <a:latin typeface="Anantason Expanded"/>
                <a:ea typeface="Anantason Expanded"/>
                <a:cs typeface="Anantason Expanded"/>
              </a:rPr>
              <a:t>SPEAK YOUR MIND. SHAPE OUR FUTURE.</a:t>
            </a:r>
          </a:p>
        </p:txBody>
      </p:sp>
      <p:sp>
        <p:nvSpPr>
          <p:cNvPr id="4" name="mail-emoji">
            <a:extLst>
              <a:ext uri="{FF2B5EF4-FFF2-40B4-BE49-F238E27FC236}">
                <a16:creationId xmlns:a16="http://schemas.microsoft.com/office/drawing/2014/main" id="{B0803C93-8C7E-4F08-92DF-0CA7207EFAA5}"/>
              </a:ext>
            </a:extLst>
          </p:cNvPr>
          <p:cNvSpPr>
            <a:spLocks noGrp="1"/>
          </p:cNvSpPr>
          <p:nvPr/>
        </p:nvSpPr>
        <p:spPr>
          <a:xfrm>
            <a:off x="7239000" y="1666875"/>
            <a:ext cx="3810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600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9600" b="0">
                <a:solidFill>
                  <a:srgbClr val="232323"/>
                </a:solidFill>
                <a:latin typeface="Apple Color Emoji"/>
                <a:ea typeface="Apple Color Emoji"/>
                <a:cs typeface="Apple Color Emoji"/>
              </a:rPr>
              <a:t>📩</a:t>
            </a:r>
          </a:p>
        </p:txBody>
      </p:sp>
      <p:sp>
        <p:nvSpPr>
          <p:cNvPr id="5" name="email">
            <a:extLst>
              <a:ext uri="{FF2B5EF4-FFF2-40B4-BE49-F238E27FC236}">
                <a16:creationId xmlns:a16="http://schemas.microsoft.com/office/drawing/2014/main" id="{094E56C5-E100-49D2-841F-A9AEFBD2362F}"/>
              </a:ext>
            </a:extLst>
          </p:cNvPr>
          <p:cNvSpPr>
            <a:spLocks noGrp="1"/>
          </p:cNvSpPr>
          <p:nvPr/>
        </p:nvSpPr>
        <p:spPr>
          <a:xfrm>
            <a:off x="1619250" y="4524375"/>
            <a:ext cx="15049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435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4350" b="1">
                <a:solidFill>
                  <a:srgbClr val="232323"/>
                </a:solidFill>
                <a:latin typeface="Anantason Expanded"/>
                <a:ea typeface="Anantason Expanded"/>
                <a:cs typeface="Anantason Expanded"/>
              </a:rPr>
              <a:t>ourvoice@hd.kaiwenacademy.cn</a:t>
            </a:r>
          </a:p>
        </p:txBody>
      </p:sp>
      <p:sp>
        <p:nvSpPr>
          <p:cNvPr id="6" name="contact-copy-en">
            <a:extLst>
              <a:ext uri="{FF2B5EF4-FFF2-40B4-BE49-F238E27FC236}">
                <a16:creationId xmlns:a16="http://schemas.microsoft.com/office/drawing/2014/main" id="{68786675-E69D-44DB-9FC0-DF205F30BAE8}"/>
              </a:ext>
            </a:extLst>
          </p:cNvPr>
          <p:cNvSpPr>
            <a:spLocks noGrp="1"/>
          </p:cNvSpPr>
          <p:nvPr/>
        </p:nvSpPr>
        <p:spPr>
          <a:xfrm>
            <a:off x="3429000" y="6381750"/>
            <a:ext cx="1143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defRPr>
            </a:pPr>
            <a:r>
              <a:rPr sz="2550" b="1">
                <a:solidFill>
                  <a:srgbClr val="FFB526"/>
                </a:solidFill>
                <a:latin typeface="Anantason Expanded"/>
                <a:ea typeface="Anantason Expanded"/>
                <a:cs typeface="Anantason Expanded"/>
              </a:rPr>
              <a:t>SHARE YOUR VOICE WITH US</a:t>
            </a:r>
          </a:p>
        </p:txBody>
      </p:sp>
      <p:sp>
        <p:nvSpPr>
          <p:cNvPr id="7" name="contact-copy-zh">
            <a:extLst>
              <a:ext uri="{FF2B5EF4-FFF2-40B4-BE49-F238E27FC236}">
                <a16:creationId xmlns:a16="http://schemas.microsoft.com/office/drawing/2014/main" id="{5780AB03-76BB-4F20-81AD-279CAB4A8159}"/>
              </a:ext>
            </a:extLst>
          </p:cNvPr>
          <p:cNvSpPr>
            <a:spLocks noGrp="1"/>
          </p:cNvSpPr>
          <p:nvPr/>
        </p:nvSpPr>
        <p:spPr>
          <a:xfrm>
            <a:off x="3905250" y="72390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>
                <a:solidFill>
                  <a:srgbClr val="23232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32323"/>
                </a:solidFill>
                <a:latin typeface="PingFang SC"/>
                <a:ea typeface="PingFang SC"/>
                <a:cs typeface="PingFang SC"/>
              </a:rPr>
              <a:t>欢迎随时与我们分享你的想法</a:t>
            </a:r>
          </a:p>
        </p:txBody>
      </p:sp>
    </p:spTree>
    <p:extLst>
      <p:ext uri="{BB962C8B-B14F-4D97-AF65-F5344CB8AC3E}">
        <p14:creationId xmlns:p14="http://schemas.microsoft.com/office/powerpoint/2010/main" val="2116755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71864" y="7776466"/>
            <a:ext cx="7744271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222221"/>
                </a:solidFill>
                <a:latin typeface="Anantason Expanded"/>
                <a:ea typeface="Anantason Expanded"/>
                <a:cs typeface="Anantason Expanded"/>
                <a:sym typeface="Anantason Expanded"/>
              </a:rPr>
              <a:t>Annie Wu   Yuhong Luo   Edith Zou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797364"/>
            <a:ext cx="18288000" cy="445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20"/>
              </a:lnSpc>
            </a:pPr>
            <a:r>
              <a:rPr lang="en-US" sz="10000" dirty="0">
                <a:solidFill>
                  <a:srgbClr val="222221"/>
                </a:solidFill>
                <a:latin typeface="Anantason Expanded Ultra-Bold"/>
                <a:ea typeface="Anantason Expanded Ultra-Bold"/>
                <a:cs typeface="Anantason Expanded Ultra-Bold"/>
                <a:sym typeface="Anantason Expanded Ultra-Bold"/>
              </a:rPr>
              <a:t>THANK YOU FOR WATCHING 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288</Words>
  <Application>Microsoft Macintosh PowerPoint</Application>
  <PresentationFormat>Custom</PresentationFormat>
  <Paragraphs>75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Anantason Expanded Ultra-Bold</vt:lpstr>
      <vt:lpstr>Anantason Expanded Medium</vt:lpstr>
      <vt:lpstr>Anantason Expanded Bold</vt:lpstr>
      <vt:lpstr>Calibri</vt:lpstr>
      <vt:lpstr>Arial</vt:lpstr>
      <vt:lpstr>Aptos</vt:lpstr>
      <vt:lpstr>Anantason Expanded</vt:lpstr>
      <vt:lpstr>Apple Color Emoji</vt:lpstr>
      <vt:lpstr>PingFang SC</vt:lpstr>
      <vt:lpstr>Heiti TC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Voice</dc:title>
  <cp:lastModifiedBy>Annie Wu</cp:lastModifiedBy>
  <cp:revision>5</cp:revision>
  <dcterms:created xsi:type="dcterms:W3CDTF">2006-08-16T00:00:00Z</dcterms:created>
  <dcterms:modified xsi:type="dcterms:W3CDTF">2026-10-09T13:17:25Z</dcterms:modified>
  <dc:identifier>DAGXG_2cGmM</dc:identifier>
</cp:coreProperties>
</file>